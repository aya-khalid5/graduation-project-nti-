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IBM Plex Sans Bold" charset="1" panose="020B0803050203000203"/>
      <p:regular r:id="rId26"/>
    </p:embeddedFont>
    <p:embeddedFont>
      <p:font typeface="DM Sans Bold" charset="1" panose="00000000000000000000"/>
      <p:regular r:id="rId27"/>
    </p:embeddedFont>
    <p:embeddedFont>
      <p:font typeface="IBM Plex Sans" charset="1" panose="020B0503050203000203"/>
      <p:regular r:id="rId28"/>
    </p:embeddedFont>
    <p:embeddedFont>
      <p:font typeface="IBM Plex Mono" charset="1" panose="020B0509050203000203"/>
      <p:regular r:id="rId29"/>
    </p:embeddedFont>
    <p:embeddedFont>
      <p:font typeface="IBM Plex Mono Bold" charset="1" panose="020B0809050203000203"/>
      <p:regular r:id="rId30"/>
    </p:embeddedFont>
    <p:embeddedFont>
      <p:font typeface="DM Sans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lobal-food-wastage-web.streamlit.app" TargetMode="External" Type="http://schemas.openxmlformats.org/officeDocument/2006/relationships/hyperlink"/><Relationship Id="rId4" Target="https://global-food-wastage-web.streamlit.app" TargetMode="External" Type="http://schemas.openxmlformats.org/officeDocument/2006/relationships/hyperlink"/><Relationship Id="rId5" Target="https://hub.docker.com/layers/ayakhaled5/food-waste-app/latest/images/sha256%3A43573111205e40a236f215be909f35578f951a4c9a78ae8fb214517d24ee2b9c?uuid=2609A4C3-D5B4-46D9-8D45-EEACB81E7277" TargetMode="External" Type="http://schemas.openxmlformats.org/officeDocument/2006/relationships/hyperlink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66" r="0" b="-66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668000" cy="10287000"/>
            <a:chOff x="0" y="0"/>
            <a:chExt cx="1422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C32">
                <a:alpha val="91765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06680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D8B5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ACADEMIC PROJECT  • 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400300"/>
            <a:ext cx="8953500" cy="2276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7"/>
              </a:lnSpc>
            </a:pPr>
            <a:r>
              <a:rPr lang="en-US" sz="5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Food Waste Analysis</a:t>
            </a:r>
          </a:p>
          <a:p>
            <a:pPr algn="l">
              <a:lnSpc>
                <a:spcPts val="5967"/>
              </a:lnSpc>
            </a:pPr>
            <a:r>
              <a:rPr lang="en-US" sz="5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and Economic Loss</a:t>
            </a:r>
          </a:p>
          <a:p>
            <a:pPr algn="l">
              <a:lnSpc>
                <a:spcPts val="5967"/>
              </a:lnSpc>
            </a:pPr>
            <a:r>
              <a:rPr lang="en-US" sz="5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Prediction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6838950"/>
            <a:ext cx="1143000" cy="57150"/>
            <a:chOff x="0" y="0"/>
            <a:chExt cx="1524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4000" cy="76200"/>
            </a:xfrm>
            <a:custGeom>
              <a:avLst/>
              <a:gdLst/>
              <a:ahLst/>
              <a:cxnLst/>
              <a:rect r="r" b="b" t="t" l="l"/>
              <a:pathLst>
                <a:path h="762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524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4762500"/>
            <a:ext cx="7429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Data Analytics &amp; Machine Learning 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667750"/>
            <a:ext cx="2857500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ED8B5A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2026-08-29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7019925"/>
            <a:ext cx="7277100" cy="1581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NTI X ITIDA Advanced Data Analytics Internship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Aya Khaled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Jana Mohamed</a:t>
            </a:r>
          </a:p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Maha Gad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22" y="0"/>
            <a:ext cx="18257557" cy="10287000"/>
          </a:xfrm>
          <a:custGeom>
            <a:avLst/>
            <a:gdLst/>
            <a:ahLst/>
            <a:cxnLst/>
            <a:rect r="r" b="b" t="t" l="l"/>
            <a:pathLst>
              <a:path h="10287000" w="18257557">
                <a:moveTo>
                  <a:pt x="0" y="0"/>
                </a:moveTo>
                <a:lnTo>
                  <a:pt x="18257556" y="0"/>
                </a:lnTo>
                <a:lnTo>
                  <a:pt x="1825755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Dataset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2571750"/>
            <a:ext cx="3810000" cy="1295400"/>
            <a:chOff x="0" y="0"/>
            <a:chExt cx="5080000" cy="17272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Country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GEOGRAPHY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05400" y="2571750"/>
            <a:ext cx="3810000" cy="1295400"/>
            <a:chOff x="0" y="0"/>
            <a:chExt cx="5080000" cy="17272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Year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TIME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296400" y="2571750"/>
            <a:ext cx="3810000" cy="1295400"/>
            <a:chOff x="0" y="0"/>
            <a:chExt cx="5080000" cy="17272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Food Category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CATEGORY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" y="4191000"/>
            <a:ext cx="3810000" cy="1295400"/>
            <a:chOff x="0" y="0"/>
            <a:chExt cx="5080000" cy="17272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Total Waste (Tons)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VOLUME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05400" y="4191000"/>
            <a:ext cx="3810000" cy="1295400"/>
            <a:chOff x="0" y="0"/>
            <a:chExt cx="5080000" cy="17272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Avg Waste per Capita (Kg)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INTENSITY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296400" y="4191000"/>
            <a:ext cx="3810000" cy="1295400"/>
            <a:chOff x="0" y="0"/>
            <a:chExt cx="5080000" cy="17272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Population (Million)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SCALE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14400" y="5810250"/>
            <a:ext cx="3810000" cy="1295400"/>
            <a:chOff x="0" y="0"/>
            <a:chExt cx="5080000" cy="1727200"/>
          </a:xfrm>
        </p:grpSpPr>
        <p:grpSp>
          <p:nvGrpSpPr>
            <p:cNvPr name="Group 45" id="45"/>
            <p:cNvGrpSpPr/>
            <p:nvPr/>
          </p:nvGrpSpPr>
          <p:grpSpPr>
            <a:xfrm rot="0">
              <a:off x="0" y="0"/>
              <a:ext cx="5080000" cy="1727200"/>
              <a:chOff x="0" y="0"/>
              <a:chExt cx="5080000" cy="172720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5080000" cy="1727200"/>
              </a:xfrm>
              <a:custGeom>
                <a:avLst/>
                <a:gdLst/>
                <a:ahLst/>
                <a:cxnLst/>
                <a:rect r="r" b="b" t="t" l="l"/>
                <a:pathLst>
                  <a:path h="17272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1727200"/>
                    </a:lnTo>
                    <a:lnTo>
                      <a:pt x="0" y="17272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38100"/>
                <a:ext cx="5080000" cy="17653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8" id="48"/>
            <p:cNvSpPr txBox="true"/>
            <p:nvPr/>
          </p:nvSpPr>
          <p:spPr>
            <a:xfrm rot="0">
              <a:off x="355600" y="342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Household Waste (%)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355600" y="1012825"/>
              <a:ext cx="4445000" cy="3003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889"/>
                </a:lnSpc>
              </a:pPr>
              <a:r>
                <a:rPr lang="en-US" sz="1350" spc="162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SHARE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3335000" y="2571750"/>
            <a:ext cx="4000500" cy="5143500"/>
            <a:chOff x="0" y="0"/>
            <a:chExt cx="5334000" cy="6858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5334000" cy="6858000"/>
              <a:chOff x="0" y="0"/>
              <a:chExt cx="5334000" cy="6858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5334000" cy="6858000"/>
              </a:xfrm>
              <a:custGeom>
                <a:avLst/>
                <a:gdLst/>
                <a:ahLst/>
                <a:cxnLst/>
                <a:rect r="r" b="b" t="t" l="l"/>
                <a:pathLst>
                  <a:path h="6858000" w="5334000">
                    <a:moveTo>
                      <a:pt x="0" y="0"/>
                    </a:moveTo>
                    <a:lnTo>
                      <a:pt x="5334000" y="0"/>
                    </a:lnTo>
                    <a:lnTo>
                      <a:pt x="5334000" y="6858000"/>
                    </a:lnTo>
                    <a:lnTo>
                      <a:pt x="0" y="68580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5334000" cy="689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635000" y="596900"/>
              <a:ext cx="4191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ED8B5A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PREDICTION TARGET</a:t>
              </a:r>
            </a:p>
          </p:txBody>
        </p:sp>
        <p:sp>
          <p:nvSpPr>
            <p:cNvPr name="TextBox 55" id="55"/>
            <p:cNvSpPr txBox="true"/>
            <p:nvPr/>
          </p:nvSpPr>
          <p:spPr>
            <a:xfrm rot="0">
              <a:off x="635000" y="1457325"/>
              <a:ext cx="4318000" cy="1669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145"/>
                </a:lnSpc>
              </a:pPr>
              <a:r>
                <a:rPr lang="en-US" sz="367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Economic Loss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635000" y="3327400"/>
              <a:ext cx="3810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ED8B5A"/>
                  </a:solidFill>
                  <a:latin typeface="IBM Plex Mono"/>
                  <a:ea typeface="IBM Plex Mono"/>
                  <a:cs typeface="IBM Plex Mono"/>
                  <a:sym typeface="IBM Plex Mono"/>
                </a:rPr>
                <a:t>Million $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0">
              <a:off x="635000" y="4806950"/>
              <a:ext cx="4191000" cy="809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31"/>
                </a:lnSpc>
              </a:pPr>
              <a:r>
                <a:rPr lang="en-US" sz="1875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What financial impact should we expect?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Exploratory Data Analysis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914400" y="2409825"/>
            <a:ext cx="2095500" cy="1419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49"/>
              </a:lnSpc>
            </a:pPr>
            <a:r>
              <a:rPr lang="en-US" sz="8250" b="true">
                <a:solidFill>
                  <a:srgbClr val="ED8B5A"/>
                </a:solidFill>
                <a:latin typeface="DM Sans Bold"/>
                <a:ea typeface="DM Sans Bold"/>
                <a:cs typeface="DM Sans Bold"/>
                <a:sym typeface="DM Sans Bold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867150"/>
            <a:ext cx="4953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 b="true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columns contained missing values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781675"/>
            <a:ext cx="5905500" cy="1392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 No duplicate rows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 No invalid negative values</a:t>
            </a:r>
          </a:p>
          <a:p>
            <a:pPr algn="l">
              <a:lnSpc>
                <a:spcPts val="3780"/>
              </a:lnSpc>
            </a:pPr>
            <a:r>
              <a:rPr lang="en-US" sz="2100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✓ No IQR outliers detected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096250" y="2857500"/>
            <a:ext cx="8286750" cy="704850"/>
            <a:chOff x="0" y="0"/>
            <a:chExt cx="11049000" cy="939800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5461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734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Population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255000" y="-38100"/>
              <a:ext cx="2794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12% missing</a:t>
              </a:r>
            </a:p>
          </p:txBody>
        </p:sp>
        <p:grpSp>
          <p:nvGrpSpPr>
            <p:cNvPr name="Group 14" id="14"/>
            <p:cNvGrpSpPr/>
            <p:nvPr/>
          </p:nvGrpSpPr>
          <p:grpSpPr>
            <a:xfrm rot="0">
              <a:off x="0" y="635000"/>
              <a:ext cx="11049000" cy="304800"/>
              <a:chOff x="0" y="0"/>
              <a:chExt cx="11049000" cy="304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10490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11049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10490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0" y="635000"/>
              <a:ext cx="8839200" cy="304800"/>
              <a:chOff x="0" y="0"/>
              <a:chExt cx="8839200" cy="304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8392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8839200">
                    <a:moveTo>
                      <a:pt x="0" y="0"/>
                    </a:moveTo>
                    <a:lnTo>
                      <a:pt x="8839200" y="0"/>
                    </a:lnTo>
                    <a:lnTo>
                      <a:pt x="88392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88392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0" id="20"/>
          <p:cNvGrpSpPr/>
          <p:nvPr/>
        </p:nvGrpSpPr>
        <p:grpSpPr>
          <a:xfrm rot="0">
            <a:off x="8096250" y="4286250"/>
            <a:ext cx="8286750" cy="704850"/>
            <a:chOff x="0" y="0"/>
            <a:chExt cx="11049000" cy="939800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38100"/>
              <a:ext cx="5461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734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Household Waste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255000" y="-38100"/>
              <a:ext cx="2794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10% missing</a:t>
              </a:r>
            </a:p>
          </p:txBody>
        </p:sp>
        <p:grpSp>
          <p:nvGrpSpPr>
            <p:cNvPr name="Group 23" id="23"/>
            <p:cNvGrpSpPr/>
            <p:nvPr/>
          </p:nvGrpSpPr>
          <p:grpSpPr>
            <a:xfrm rot="0">
              <a:off x="0" y="635000"/>
              <a:ext cx="11049000" cy="304800"/>
              <a:chOff x="0" y="0"/>
              <a:chExt cx="11049000" cy="304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10490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11049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10490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0" y="635000"/>
              <a:ext cx="7366000" cy="304800"/>
              <a:chOff x="0" y="0"/>
              <a:chExt cx="7366000" cy="304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73660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7366000">
                    <a:moveTo>
                      <a:pt x="0" y="0"/>
                    </a:moveTo>
                    <a:lnTo>
                      <a:pt x="7366000" y="0"/>
                    </a:lnTo>
                    <a:lnTo>
                      <a:pt x="73660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73660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29" id="29"/>
          <p:cNvGrpSpPr/>
          <p:nvPr/>
        </p:nvGrpSpPr>
        <p:grpSpPr>
          <a:xfrm rot="0">
            <a:off x="8096250" y="5715000"/>
            <a:ext cx="8286750" cy="704850"/>
            <a:chOff x="0" y="0"/>
            <a:chExt cx="11049000" cy="939800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5461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17342D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Other columns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8255000" y="-38100"/>
              <a:ext cx="2794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520"/>
                </a:lnSpc>
              </a:pPr>
              <a:r>
                <a:rPr lang="en-US" sz="1800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6% missing</a:t>
              </a:r>
            </a:p>
          </p:txBody>
        </p:sp>
        <p:grpSp>
          <p:nvGrpSpPr>
            <p:cNvPr name="Group 32" id="32"/>
            <p:cNvGrpSpPr/>
            <p:nvPr/>
          </p:nvGrpSpPr>
          <p:grpSpPr>
            <a:xfrm rot="0">
              <a:off x="0" y="635000"/>
              <a:ext cx="11049000" cy="304800"/>
              <a:chOff x="0" y="0"/>
              <a:chExt cx="11049000" cy="304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10490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11049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10490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635000"/>
              <a:ext cx="4419600" cy="304800"/>
              <a:chOff x="0" y="0"/>
              <a:chExt cx="4419600" cy="3048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4419600" cy="304800"/>
              </a:xfrm>
              <a:custGeom>
                <a:avLst/>
                <a:gdLst/>
                <a:ahLst/>
                <a:cxnLst/>
                <a:rect r="r" b="b" t="t" l="l"/>
                <a:pathLst>
                  <a:path h="304800" w="4419600">
                    <a:moveTo>
                      <a:pt x="0" y="0"/>
                    </a:moveTo>
                    <a:lnTo>
                      <a:pt x="4419600" y="0"/>
                    </a:lnTo>
                    <a:lnTo>
                      <a:pt x="4419600" y="304800"/>
                    </a:lnTo>
                    <a:lnTo>
                      <a:pt x="0" y="3048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0" y="-38100"/>
                <a:ext cx="4419600" cy="342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38" id="38"/>
          <p:cNvGrpSpPr/>
          <p:nvPr/>
        </p:nvGrpSpPr>
        <p:grpSpPr>
          <a:xfrm rot="0">
            <a:off x="8096250" y="7810500"/>
            <a:ext cx="8286750" cy="609600"/>
            <a:chOff x="0" y="0"/>
            <a:chExt cx="11049000" cy="8128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1049000" cy="812800"/>
              <a:chOff x="0" y="0"/>
              <a:chExt cx="110490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1049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1049000">
                    <a:moveTo>
                      <a:pt x="0" y="0"/>
                    </a:moveTo>
                    <a:lnTo>
                      <a:pt x="11049000" y="0"/>
                    </a:lnTo>
                    <a:lnTo>
                      <a:pt x="110490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110490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279400" y="189230"/>
              <a:ext cx="104902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PROFILE  →  VALIDATE  →  VISUALIZE  →  INTERPRET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Data Cleaning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2571750"/>
            <a:ext cx="15468600" cy="876300"/>
            <a:chOff x="0" y="0"/>
            <a:chExt cx="20624800" cy="11684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8255000" cy="1168400"/>
              <a:chOff x="0" y="0"/>
              <a:chExt cx="8255000" cy="1168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255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8255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22300" y="292100"/>
              <a:ext cx="571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Population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8559800" y="584200"/>
              <a:ext cx="1397000" cy="0"/>
            </a:xfrm>
            <a:prstGeom prst="line">
              <a:avLst/>
            </a:prstGeom>
            <a:ln cap="rnd" w="50800">
              <a:solidFill>
                <a:srgbClr val="ED8B5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14" id="14"/>
            <p:cNvGrpSpPr/>
            <p:nvPr/>
          </p:nvGrpSpPr>
          <p:grpSpPr>
            <a:xfrm rot="0">
              <a:off x="10210800" y="0"/>
              <a:ext cx="10414000" cy="1168400"/>
              <a:chOff x="0" y="0"/>
              <a:chExt cx="10414000" cy="11684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41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41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10718800" y="2825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C3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Median by Country + Year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3762375"/>
            <a:ext cx="15468600" cy="876300"/>
            <a:chOff x="0" y="0"/>
            <a:chExt cx="20624800" cy="11684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8255000" cy="1168400"/>
              <a:chOff x="0" y="0"/>
              <a:chExt cx="8255000" cy="1168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8255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8255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622300" y="292100"/>
              <a:ext cx="571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Total Waste</a:t>
              </a:r>
            </a:p>
          </p:txBody>
        </p:sp>
        <p:sp>
          <p:nvSpPr>
            <p:cNvPr name="AutoShape 23" id="23"/>
            <p:cNvSpPr/>
            <p:nvPr/>
          </p:nvSpPr>
          <p:spPr>
            <a:xfrm>
              <a:off x="8559800" y="584200"/>
              <a:ext cx="1397000" cy="0"/>
            </a:xfrm>
            <a:prstGeom prst="line">
              <a:avLst/>
            </a:prstGeom>
            <a:ln cap="rnd" w="50800">
              <a:solidFill>
                <a:srgbClr val="ED8B5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4" id="24"/>
            <p:cNvGrpSpPr/>
            <p:nvPr/>
          </p:nvGrpSpPr>
          <p:grpSpPr>
            <a:xfrm rot="0">
              <a:off x="10210800" y="0"/>
              <a:ext cx="10414000" cy="1168400"/>
              <a:chOff x="0" y="0"/>
              <a:chExt cx="10414000" cy="11684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041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041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10718800" y="2825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C3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Median by Country + Food Category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14400" y="4953000"/>
            <a:ext cx="15468600" cy="876300"/>
            <a:chOff x="0" y="0"/>
            <a:chExt cx="20624800" cy="1168400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8255000" cy="1168400"/>
              <a:chOff x="0" y="0"/>
              <a:chExt cx="8255000" cy="11684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255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8255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622300" y="292100"/>
              <a:ext cx="571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Avg Waste per Capita</a:t>
              </a:r>
            </a:p>
          </p:txBody>
        </p:sp>
        <p:sp>
          <p:nvSpPr>
            <p:cNvPr name="AutoShape 33" id="33"/>
            <p:cNvSpPr/>
            <p:nvPr/>
          </p:nvSpPr>
          <p:spPr>
            <a:xfrm>
              <a:off x="8559800" y="584200"/>
              <a:ext cx="1397000" cy="0"/>
            </a:xfrm>
            <a:prstGeom prst="line">
              <a:avLst/>
            </a:prstGeom>
            <a:ln cap="rnd" w="50800">
              <a:solidFill>
                <a:srgbClr val="ED8B5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4" id="34"/>
            <p:cNvGrpSpPr/>
            <p:nvPr/>
          </p:nvGrpSpPr>
          <p:grpSpPr>
            <a:xfrm rot="0">
              <a:off x="10210800" y="0"/>
              <a:ext cx="10414000" cy="1168400"/>
              <a:chOff x="0" y="0"/>
              <a:chExt cx="10414000" cy="11684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1041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1041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10718800" y="2825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C3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Median by Country + Food Category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14400" y="6143625"/>
            <a:ext cx="15468600" cy="876300"/>
            <a:chOff x="0" y="0"/>
            <a:chExt cx="20624800" cy="1168400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8255000" cy="1168400"/>
              <a:chOff x="0" y="0"/>
              <a:chExt cx="8255000" cy="11684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255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38100"/>
                <a:ext cx="8255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622300" y="292100"/>
              <a:ext cx="571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Household Waste</a:t>
              </a:r>
            </a:p>
          </p:txBody>
        </p:sp>
        <p:sp>
          <p:nvSpPr>
            <p:cNvPr name="AutoShape 43" id="43"/>
            <p:cNvSpPr/>
            <p:nvPr/>
          </p:nvSpPr>
          <p:spPr>
            <a:xfrm>
              <a:off x="8559800" y="584200"/>
              <a:ext cx="1397000" cy="0"/>
            </a:xfrm>
            <a:prstGeom prst="line">
              <a:avLst/>
            </a:prstGeom>
            <a:ln cap="rnd" w="50800">
              <a:solidFill>
                <a:srgbClr val="ED8B5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44" id="44"/>
            <p:cNvGrpSpPr/>
            <p:nvPr/>
          </p:nvGrpSpPr>
          <p:grpSpPr>
            <a:xfrm rot="0">
              <a:off x="10210800" y="0"/>
              <a:ext cx="10414000" cy="1168400"/>
              <a:chOff x="0" y="0"/>
              <a:chExt cx="10414000" cy="11684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1041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0" y="-38100"/>
                <a:ext cx="1041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10718800" y="2825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C3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Median by Country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914400" y="7334250"/>
            <a:ext cx="15468600" cy="876300"/>
            <a:chOff x="0" y="0"/>
            <a:chExt cx="20624800" cy="1168400"/>
          </a:xfrm>
        </p:grpSpPr>
        <p:grpSp>
          <p:nvGrpSpPr>
            <p:cNvPr name="Group 49" id="49"/>
            <p:cNvGrpSpPr/>
            <p:nvPr/>
          </p:nvGrpSpPr>
          <p:grpSpPr>
            <a:xfrm rot="0">
              <a:off x="0" y="0"/>
              <a:ext cx="8255000" cy="1168400"/>
              <a:chOff x="0" y="0"/>
              <a:chExt cx="8255000" cy="116840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0" y="0"/>
                <a:ext cx="8255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8255000">
                    <a:moveTo>
                      <a:pt x="0" y="0"/>
                    </a:moveTo>
                    <a:lnTo>
                      <a:pt x="8255000" y="0"/>
                    </a:lnTo>
                    <a:lnTo>
                      <a:pt x="8255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1" id="51"/>
              <p:cNvSpPr txBox="true"/>
              <p:nvPr/>
            </p:nvSpPr>
            <p:spPr>
              <a:xfrm>
                <a:off x="0" y="-38100"/>
                <a:ext cx="8255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2" id="52"/>
            <p:cNvSpPr txBox="true"/>
            <p:nvPr/>
          </p:nvSpPr>
          <p:spPr>
            <a:xfrm rot="0">
              <a:off x="622300" y="292100"/>
              <a:ext cx="571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Food Category</a:t>
              </a:r>
            </a:p>
          </p:txBody>
        </p:sp>
        <p:sp>
          <p:nvSpPr>
            <p:cNvPr name="AutoShape 53" id="53"/>
            <p:cNvSpPr/>
            <p:nvPr/>
          </p:nvSpPr>
          <p:spPr>
            <a:xfrm>
              <a:off x="8559800" y="584200"/>
              <a:ext cx="1397000" cy="0"/>
            </a:xfrm>
            <a:prstGeom prst="line">
              <a:avLst/>
            </a:prstGeom>
            <a:ln cap="rnd" w="50800">
              <a:solidFill>
                <a:srgbClr val="ED8B5A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54" id="54"/>
            <p:cNvGrpSpPr/>
            <p:nvPr/>
          </p:nvGrpSpPr>
          <p:grpSpPr>
            <a:xfrm rot="0">
              <a:off x="10210800" y="0"/>
              <a:ext cx="10414000" cy="1168400"/>
              <a:chOff x="0" y="0"/>
              <a:chExt cx="10414000" cy="1168400"/>
            </a:xfrm>
          </p:grpSpPr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10414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6" id="56"/>
              <p:cNvSpPr txBox="true"/>
              <p:nvPr/>
            </p:nvSpPr>
            <p:spPr>
              <a:xfrm>
                <a:off x="0" y="-38100"/>
                <a:ext cx="10414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7" id="57"/>
            <p:cNvSpPr txBox="true"/>
            <p:nvPr/>
          </p:nvSpPr>
          <p:spPr>
            <a:xfrm rot="0">
              <a:off x="10718800" y="282575"/>
              <a:ext cx="8255000" cy="448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025">
                  <a:solidFill>
                    <a:srgbClr val="123C32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Mode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8572500" y="8810625"/>
            <a:ext cx="7810500" cy="609600"/>
            <a:chOff x="0" y="0"/>
            <a:chExt cx="10414000" cy="812800"/>
          </a:xfrm>
        </p:grpSpPr>
        <p:grpSp>
          <p:nvGrpSpPr>
            <p:cNvPr name="Group 59" id="59"/>
            <p:cNvGrpSpPr/>
            <p:nvPr/>
          </p:nvGrpSpPr>
          <p:grpSpPr>
            <a:xfrm rot="0">
              <a:off x="0" y="0"/>
              <a:ext cx="10414000" cy="812800"/>
              <a:chOff x="0" y="0"/>
              <a:chExt cx="10414000" cy="812800"/>
            </a:xfrm>
          </p:grpSpPr>
          <p:sp>
            <p:nvSpPr>
              <p:cNvPr name="Freeform 60" id="60"/>
              <p:cNvSpPr/>
              <p:nvPr/>
            </p:nvSpPr>
            <p:spPr>
              <a:xfrm flipH="false" flipV="false" rot="0">
                <a:off x="0" y="0"/>
                <a:ext cx="10414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414000">
                    <a:moveTo>
                      <a:pt x="0" y="0"/>
                    </a:moveTo>
                    <a:lnTo>
                      <a:pt x="10414000" y="0"/>
                    </a:lnTo>
                    <a:lnTo>
                      <a:pt x="104140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1" id="61"/>
              <p:cNvSpPr txBox="true"/>
              <p:nvPr/>
            </p:nvSpPr>
            <p:spPr>
              <a:xfrm>
                <a:off x="0" y="-38100"/>
                <a:ext cx="104140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2" id="62"/>
            <p:cNvSpPr txBox="true"/>
            <p:nvPr/>
          </p:nvSpPr>
          <p:spPr>
            <a:xfrm rot="0">
              <a:off x="279400" y="189230"/>
              <a:ext cx="98552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FALLBACK  •  GLOBAL MEDIAN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807" y="0"/>
            <a:ext cx="18132387" cy="10287000"/>
          </a:xfrm>
          <a:custGeom>
            <a:avLst/>
            <a:gdLst/>
            <a:ahLst/>
            <a:cxnLst/>
            <a:rect r="r" b="b" t="t" l="l"/>
            <a:pathLst>
              <a:path h="10287000" w="18132387">
                <a:moveTo>
                  <a:pt x="0" y="0"/>
                </a:moveTo>
                <a:lnTo>
                  <a:pt x="18132386" y="0"/>
                </a:lnTo>
                <a:lnTo>
                  <a:pt x="1813238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23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06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Leakage-Safe ML Preparation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52500" y="3333750"/>
            <a:ext cx="3714750" cy="2286000"/>
            <a:chOff x="0" y="0"/>
            <a:chExt cx="4953000" cy="3048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4953000" cy="3048000"/>
              <a:chOff x="0" y="0"/>
              <a:chExt cx="4953000" cy="3048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95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95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81000" y="714375"/>
              <a:ext cx="419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RAW DATA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81000" y="1549400"/>
              <a:ext cx="419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Complete feature set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810125" y="4476750"/>
            <a:ext cx="333375" cy="0"/>
          </a:xfrm>
          <a:prstGeom prst="line">
            <a:avLst/>
          </a:prstGeom>
          <a:ln cap="rnd" w="47625">
            <a:solidFill>
              <a:srgbClr val="ED8B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286375" y="3333750"/>
            <a:ext cx="3714750" cy="2286000"/>
            <a:chOff x="0" y="0"/>
            <a:chExt cx="4953000" cy="3048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953000" cy="3048000"/>
              <a:chOff x="0" y="0"/>
              <a:chExt cx="4953000" cy="3048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95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95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381000" y="714375"/>
              <a:ext cx="419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TRAIN / TEST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81000" y="1549400"/>
              <a:ext cx="419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Split first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9144000" y="4476750"/>
            <a:ext cx="333375" cy="0"/>
          </a:xfrm>
          <a:prstGeom prst="line">
            <a:avLst/>
          </a:prstGeom>
          <a:ln cap="rnd" w="47625">
            <a:solidFill>
              <a:srgbClr val="ED8B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9620250" y="3333750"/>
            <a:ext cx="3714750" cy="2286000"/>
            <a:chOff x="0" y="0"/>
            <a:chExt cx="4953000" cy="30480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4953000" cy="3048000"/>
              <a:chOff x="0" y="0"/>
              <a:chExt cx="4953000" cy="3048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495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495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381000" y="714375"/>
              <a:ext cx="419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123C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IMPUTE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381000" y="1549400"/>
              <a:ext cx="419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Training values only</a:t>
              </a:r>
            </a:p>
          </p:txBody>
        </p:sp>
      </p:grpSp>
      <p:sp>
        <p:nvSpPr>
          <p:cNvPr name="AutoShape 28" id="28"/>
          <p:cNvSpPr/>
          <p:nvPr/>
        </p:nvSpPr>
        <p:spPr>
          <a:xfrm>
            <a:off x="13477875" y="4476750"/>
            <a:ext cx="333375" cy="0"/>
          </a:xfrm>
          <a:prstGeom prst="line">
            <a:avLst/>
          </a:prstGeom>
          <a:ln cap="rnd" w="47625">
            <a:solidFill>
              <a:srgbClr val="ED8B5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3954125" y="3333750"/>
            <a:ext cx="3714750" cy="2286000"/>
            <a:chOff x="0" y="0"/>
            <a:chExt cx="4953000" cy="30480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4953000" cy="3048000"/>
              <a:chOff x="0" y="0"/>
              <a:chExt cx="4953000" cy="30480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953000" cy="3048000"/>
              </a:xfrm>
              <a:custGeom>
                <a:avLst/>
                <a:gdLst/>
                <a:ahLst/>
                <a:cxnLst/>
                <a:rect r="r" b="b" t="t" l="l"/>
                <a:pathLst>
                  <a:path h="3048000" w="4953000">
                    <a:moveTo>
                      <a:pt x="0" y="0"/>
                    </a:moveTo>
                    <a:lnTo>
                      <a:pt x="4953000" y="0"/>
                    </a:lnTo>
                    <a:lnTo>
                      <a:pt x="4953000" y="3048000"/>
                    </a:lnTo>
                    <a:lnTo>
                      <a:pt x="0" y="3048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953000" cy="3086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381000" y="714375"/>
              <a:ext cx="4191000" cy="504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49"/>
                </a:lnSpc>
              </a:pPr>
              <a:r>
                <a:rPr lang="en-US" sz="22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381000" y="1549400"/>
              <a:ext cx="41910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Fit &amp; evaluate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2667000" y="7191375"/>
            <a:ext cx="129540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“Train data was used to calculate imputation values to prevent Data Leakage.”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306449"/>
            <a:chOff x="0" y="0"/>
            <a:chExt cx="21945600" cy="17419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55625"/>
              <a:ext cx="19050000" cy="855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5"/>
                </a:lnSpc>
              </a:pPr>
              <a:r>
                <a:rPr lang="en-US" sz="4449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 Dashboard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703832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914400" y="2124076"/>
            <a:ext cx="82296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999" b="true">
                <a:solidFill>
                  <a:srgbClr val="17342D"/>
                </a:solidFill>
                <a:latin typeface="DM Sans Bold"/>
                <a:ea typeface="DM Sans Bold"/>
                <a:cs typeface="DM Sans Bold"/>
                <a:sym typeface="DM Sans Bold"/>
              </a:rPr>
              <a:t>From analysis to action.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2771776"/>
            <a:ext cx="16459200" cy="6851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38"/>
              </a:lnSpc>
            </a:pPr>
            <a:r>
              <a:rPr lang="en-US" sz="2144" b="true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Food Waste Analysis Dashboard</a:t>
            </a:r>
          </a:p>
          <a:p>
            <a:pPr algn="l">
              <a:lnSpc>
                <a:spcPts val="3013"/>
              </a:lnSpc>
            </a:pPr>
            <a:r>
              <a:rPr lang="en-US" sz="1826" u="sng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Common Features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 u="sng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K</a:t>
            </a: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PIs: </a:t>
            </a: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Total Population | Total Economic Loss ($) | Average Individual Food Waste (kg) | Total Food Waste (Tons)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Slicers: Year | Country | Food Category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Navigation: Waste Overview | Country Analysis | Map</a:t>
            </a:r>
          </a:p>
          <a:p>
            <a:pPr algn="l">
              <a:lnSpc>
                <a:spcPts val="3013"/>
              </a:lnSpc>
            </a:pPr>
            <a:r>
              <a:rPr lang="en-US" sz="1826" u="sng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1 — Waste Overview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Household Food Waste (%) — Gauge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Economic Loss ($) by Year  — Area Line Chart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Food Waste (Tons) by Year — Area Line Chart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Food Waste (Tons) by Category — Funnel Chart</a:t>
            </a:r>
          </a:p>
          <a:p>
            <a:pPr algn="l">
              <a:lnSpc>
                <a:spcPts val="3013"/>
              </a:lnSpc>
            </a:pPr>
            <a:r>
              <a:rPr lang="en-US" sz="1826" u="sng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2 — Country Analysis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10 Countries by Food Waste (Tons)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10 Countries by Economic Loss ($)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10 Countries by Household Food Waste (%)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10 Countries by Individual Food Waste (Kg)</a:t>
            </a:r>
          </a:p>
          <a:p>
            <a:pPr algn="l">
              <a:lnSpc>
                <a:spcPts val="3013"/>
              </a:lnSpc>
            </a:pPr>
            <a:r>
              <a:rPr lang="en-US" sz="1826" u="sng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Page 3 — Map</a:t>
            </a:r>
          </a:p>
          <a:p>
            <a:pPr algn="l" marL="394362" indent="-197181" lvl="1">
              <a:lnSpc>
                <a:spcPts val="3013"/>
              </a:lnSpc>
              <a:buFont typeface="Arial"/>
              <a:buChar char="•"/>
            </a:pPr>
            <a:r>
              <a:rPr lang="en-US" sz="1826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Economic Loss by Country — Map</a:t>
            </a:r>
          </a:p>
          <a:p>
            <a:pPr algn="l">
              <a:lnSpc>
                <a:spcPts val="3516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 Dashboard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2216897" y="2055676"/>
            <a:ext cx="13854206" cy="8030535"/>
          </a:xfrm>
          <a:custGeom>
            <a:avLst/>
            <a:gdLst/>
            <a:ahLst/>
            <a:cxnLst/>
            <a:rect r="r" b="b" t="t" l="l"/>
            <a:pathLst>
              <a:path h="8030535" w="13854206">
                <a:moveTo>
                  <a:pt x="0" y="0"/>
                </a:moveTo>
                <a:lnTo>
                  <a:pt x="13854206" y="0"/>
                </a:lnTo>
                <a:lnTo>
                  <a:pt x="13854206" y="8030535"/>
                </a:lnTo>
                <a:lnTo>
                  <a:pt x="0" y="80305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802" t="-27832" r="-19551" b="-11281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 Dashboard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1949548" y="1985956"/>
            <a:ext cx="14388904" cy="8158983"/>
          </a:xfrm>
          <a:custGeom>
            <a:avLst/>
            <a:gdLst/>
            <a:ahLst/>
            <a:cxnLst/>
            <a:rect r="r" b="b" t="t" l="l"/>
            <a:pathLst>
              <a:path h="8158983" w="14388904">
                <a:moveTo>
                  <a:pt x="0" y="0"/>
                </a:moveTo>
                <a:lnTo>
                  <a:pt x="14388904" y="0"/>
                </a:lnTo>
                <a:lnTo>
                  <a:pt x="14388904" y="8158983"/>
                </a:lnTo>
                <a:lnTo>
                  <a:pt x="0" y="81589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3425" t="-28264" r="-18983" b="-13006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 Dashboard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0">
            <a:off x="2408894" y="1975238"/>
            <a:ext cx="13824176" cy="8169701"/>
          </a:xfrm>
          <a:custGeom>
            <a:avLst/>
            <a:gdLst/>
            <a:ahLst/>
            <a:cxnLst/>
            <a:rect r="r" b="b" t="t" l="l"/>
            <a:pathLst>
              <a:path h="8169701" w="13824176">
                <a:moveTo>
                  <a:pt x="0" y="0"/>
                </a:moveTo>
                <a:lnTo>
                  <a:pt x="13824175" y="0"/>
                </a:lnTo>
                <a:lnTo>
                  <a:pt x="13824175" y="8169701"/>
                </a:lnTo>
                <a:lnTo>
                  <a:pt x="0" y="816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6350" t="-26966" r="-19248" b="-11618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306449"/>
            <a:chOff x="0" y="0"/>
            <a:chExt cx="21945600" cy="174193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07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55625"/>
              <a:ext cx="19050000" cy="8555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805"/>
                </a:lnSpc>
              </a:pPr>
              <a:r>
                <a:rPr lang="en-US" sz="4449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Power BI Dashboard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703832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914400" y="2124076"/>
            <a:ext cx="822960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999" b="true">
                <a:solidFill>
                  <a:srgbClr val="17342D"/>
                </a:solidFill>
                <a:latin typeface="DM Sans Bold"/>
                <a:ea typeface="DM Sans Bold"/>
                <a:cs typeface="DM Sans Bold"/>
                <a:sym typeface="DM Sans Bold"/>
              </a:rPr>
              <a:t>From analysis to action.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013730"/>
            <a:ext cx="16459200" cy="5304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8"/>
              </a:lnSpc>
            </a:pPr>
            <a:r>
              <a:rPr lang="en-US" sz="2344" b="true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Key Insights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Prepared food recorded the highest level of food waste among the categories analyzed.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Households cont</a:t>
            </a: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ributed an average of 50% of food waste, with values ranging from 30% to 70%.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 </a:t>
            </a: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2022 recorded the lowest food waste and economic loss during the 2018–2024 period.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Food waste represents both a food-resource problem and a significant economic loss.</a:t>
            </a:r>
          </a:p>
          <a:p>
            <a:pPr algn="l">
              <a:lnSpc>
                <a:spcPts val="3868"/>
              </a:lnSpc>
            </a:pPr>
            <a:r>
              <a:rPr lang="en-US" sz="2344" b="true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Recommendations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Reduce prepared-fo</a:t>
            </a: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od waste through better portion planning, storage, and leftover reuse.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Target household waste through meal planning, smarter shopping, and food-storage awareness.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Investigate the factors behind the </a:t>
            </a: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2022 decline and identify practices that could be maintained.</a:t>
            </a:r>
          </a:p>
          <a:p>
            <a:pPr algn="l" marL="506233" indent="-253116" lvl="1">
              <a:lnSpc>
                <a:spcPts val="3868"/>
              </a:lnSpc>
              <a:buFont typeface="Arial"/>
              <a:buChar char="•"/>
            </a:pPr>
            <a:r>
              <a:rPr lang="en-US" b="true" sz="2344">
                <a:solidFill>
                  <a:srgbClr val="17342D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Treat waste reduction as a cost-saving opportunity by focusing on the food categories generating the most waste.</a:t>
            </a:r>
          </a:p>
          <a:p>
            <a:pPr algn="l">
              <a:lnSpc>
                <a:spcPts val="3868"/>
              </a:lnSpc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08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Linear Regression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sp>
        <p:nvSpPr>
          <p:cNvPr name="TextBox 8" id="8"/>
          <p:cNvSpPr txBox="true"/>
          <p:nvPr/>
        </p:nvSpPr>
        <p:spPr>
          <a:xfrm rot="0">
            <a:off x="914400" y="2314575"/>
            <a:ext cx="809625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true">
                <a:solidFill>
                  <a:srgbClr val="17342D"/>
                </a:solidFill>
                <a:latin typeface="DM Sans Bold"/>
                <a:ea typeface="DM Sans Bold"/>
                <a:cs typeface="DM Sans Bold"/>
                <a:sym typeface="DM Sans Bold"/>
              </a:rPr>
              <a:t>How much economic loss is expected?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3676650"/>
            <a:ext cx="7429500" cy="702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17342D"/>
                </a:solidFill>
                <a:latin typeface="IBM Plex Sans"/>
                <a:ea typeface="IBM Plex Sans"/>
                <a:cs typeface="IBM Plex Sans"/>
                <a:sym typeface="IBM Plex Sans"/>
              </a:rPr>
              <a:t>Predicts the actual numerical value of Economic Loss (Million $).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5667375"/>
            <a:ext cx="4762500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00"/>
              </a:lnSpc>
            </a:pPr>
            <a:r>
              <a:rPr lang="en-US" sz="7500" b="true">
                <a:solidFill>
                  <a:srgbClr val="ED8B5A"/>
                </a:solidFill>
                <a:latin typeface="DM Sans Bold"/>
                <a:ea typeface="DM Sans Bold"/>
                <a:cs typeface="DM Sans Bold"/>
                <a:sym typeface="DM Sans Bold"/>
              </a:rPr>
              <a:t>53.32%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7010400"/>
            <a:ext cx="4762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1F655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R²  •  explained variance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429750" y="2571750"/>
            <a:ext cx="7429500" cy="876300"/>
            <a:chOff x="0" y="0"/>
            <a:chExt cx="9906000" cy="11684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9906000" cy="1168400"/>
              <a:chOff x="0" y="0"/>
              <a:chExt cx="9906000" cy="1168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9906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9906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508000" y="266700"/>
              <a:ext cx="215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MAE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175000" y="180975"/>
              <a:ext cx="5969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54"/>
                </a:lnSpc>
              </a:pPr>
              <a:r>
                <a:rPr lang="en-US" sz="2325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6,734.72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29750" y="3857625"/>
            <a:ext cx="7429500" cy="876300"/>
            <a:chOff x="0" y="0"/>
            <a:chExt cx="9906000" cy="116840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9906000" cy="1168400"/>
              <a:chOff x="0" y="0"/>
              <a:chExt cx="9906000" cy="11684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9906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38100"/>
                <a:ext cx="9906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2" id="22"/>
            <p:cNvSpPr txBox="true"/>
            <p:nvPr/>
          </p:nvSpPr>
          <p:spPr>
            <a:xfrm rot="0">
              <a:off x="508000" y="266700"/>
              <a:ext cx="215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MSE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3175000" y="180975"/>
              <a:ext cx="5969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54"/>
                </a:lnSpc>
              </a:pPr>
              <a:r>
                <a:rPr lang="en-US" sz="2325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106,144,200.55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29750" y="5124450"/>
            <a:ext cx="7429500" cy="876300"/>
            <a:chOff x="0" y="0"/>
            <a:chExt cx="9906000" cy="11684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9906000" cy="1168400"/>
              <a:chOff x="0" y="0"/>
              <a:chExt cx="9906000" cy="11684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9906000" cy="1168400"/>
              </a:xfrm>
              <a:custGeom>
                <a:avLst/>
                <a:gdLst/>
                <a:ahLst/>
                <a:cxnLst/>
                <a:rect r="r" b="b" t="t" l="l"/>
                <a:pathLst>
                  <a:path h="1168400" w="9906000">
                    <a:moveTo>
                      <a:pt x="0" y="0"/>
                    </a:moveTo>
                    <a:lnTo>
                      <a:pt x="9906000" y="0"/>
                    </a:lnTo>
                    <a:lnTo>
                      <a:pt x="9906000" y="1168400"/>
                    </a:lnTo>
                    <a:lnTo>
                      <a:pt x="0" y="11684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9906000" cy="1206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583738" y="287630"/>
              <a:ext cx="1906281" cy="342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228"/>
                </a:lnSpc>
              </a:pPr>
              <a:r>
                <a:rPr lang="en-US" sz="1592" spc="191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RMSE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3175000" y="180975"/>
              <a:ext cx="5969000" cy="514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3254"/>
                </a:lnSpc>
              </a:pPr>
              <a:r>
                <a:rPr lang="en-US" sz="2325" b="true">
                  <a:solidFill>
                    <a:srgbClr val="123C3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10,302.63</a:t>
              </a:r>
            </a:p>
          </p:txBody>
        </p:sp>
      </p:grpSp>
      <p:sp>
        <p:nvSpPr>
          <p:cNvPr name="AutoShape 30" id="30"/>
          <p:cNvSpPr/>
          <p:nvPr/>
        </p:nvSpPr>
        <p:spPr>
          <a:xfrm>
            <a:off x="9912821" y="8209287"/>
            <a:ext cx="6667500" cy="0"/>
          </a:xfrm>
          <a:prstGeom prst="line">
            <a:avLst/>
          </a:prstGeom>
          <a:ln cap="flat" w="28575">
            <a:solidFill>
              <a:srgbClr val="123C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0287000" y="7667625"/>
            <a:ext cx="171450" cy="171450"/>
            <a:chOff x="0" y="0"/>
            <a:chExt cx="228600" cy="228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0906125" y="7505700"/>
            <a:ext cx="171450" cy="171450"/>
            <a:chOff x="0" y="0"/>
            <a:chExt cx="228600" cy="228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1525250" y="7343775"/>
            <a:ext cx="171450" cy="171450"/>
            <a:chOff x="0" y="0"/>
            <a:chExt cx="228600" cy="228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2181417" y="6886575"/>
            <a:ext cx="171450" cy="171450"/>
            <a:chOff x="0" y="0"/>
            <a:chExt cx="228600" cy="2286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763500" y="6543675"/>
            <a:ext cx="171450" cy="171450"/>
            <a:chOff x="0" y="0"/>
            <a:chExt cx="228600" cy="228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3468350" y="6429375"/>
            <a:ext cx="171450" cy="171450"/>
            <a:chOff x="0" y="0"/>
            <a:chExt cx="228600" cy="2286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763500" y="7120890"/>
            <a:ext cx="171450" cy="171450"/>
            <a:chOff x="0" y="0"/>
            <a:chExt cx="228600" cy="228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4087475" y="6715125"/>
            <a:ext cx="171450" cy="171450"/>
            <a:chOff x="0" y="0"/>
            <a:chExt cx="228600" cy="2286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14001750" y="6210300"/>
            <a:ext cx="171450" cy="171450"/>
            <a:chOff x="0" y="0"/>
            <a:chExt cx="228600" cy="228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3382625" y="6886575"/>
            <a:ext cx="171450" cy="171450"/>
            <a:chOff x="0" y="0"/>
            <a:chExt cx="228600" cy="2286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114300" y="0"/>
                  </a:moveTo>
                  <a:cubicBezTo>
                    <a:pt x="177426" y="0"/>
                    <a:pt x="228600" y="51174"/>
                    <a:pt x="228600" y="114300"/>
                  </a:cubicBezTo>
                  <a:cubicBezTo>
                    <a:pt x="228600" y="177426"/>
                    <a:pt x="177426" y="228600"/>
                    <a:pt x="114300" y="228600"/>
                  </a:cubicBezTo>
                  <a:cubicBezTo>
                    <a:pt x="51174" y="228600"/>
                    <a:pt x="0" y="177426"/>
                    <a:pt x="0" y="114300"/>
                  </a:cubicBez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</p:grpSp>
      <p:sp>
        <p:nvSpPr>
          <p:cNvPr name="AutoShape 51" id="51"/>
          <p:cNvSpPr/>
          <p:nvPr/>
        </p:nvSpPr>
        <p:spPr>
          <a:xfrm flipV="true">
            <a:off x="9912821" y="6409062"/>
            <a:ext cx="4694604" cy="1800225"/>
          </a:xfrm>
          <a:prstGeom prst="line">
            <a:avLst/>
          </a:prstGeom>
          <a:ln cap="flat" w="38100">
            <a:solidFill>
              <a:srgbClr val="1F6552"/>
            </a:solidFill>
            <a:prstDash val="lgDash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123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10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Logistic Regression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762000" y="3429000"/>
            <a:ext cx="3810000" cy="2190750"/>
            <a:chOff x="0" y="0"/>
            <a:chExt cx="5080000" cy="2921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080000" cy="2921000"/>
              <a:chOff x="0" y="0"/>
              <a:chExt cx="5080000" cy="2921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5080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5080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17500" y="723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INPUT FEATURES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17500" y="1549400"/>
              <a:ext cx="444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Waste • population • category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191125" y="3429000"/>
            <a:ext cx="3810000" cy="2190750"/>
            <a:chOff x="0" y="0"/>
            <a:chExt cx="5080000" cy="2921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5080000" cy="2921000"/>
              <a:chOff x="0" y="0"/>
              <a:chExt cx="5080000" cy="2921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5080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5080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317500" y="723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LOGISTIC MODEL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317500" y="1549400"/>
              <a:ext cx="444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Estimate class probability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620250" y="3429000"/>
            <a:ext cx="3810000" cy="2190750"/>
            <a:chOff x="0" y="0"/>
            <a:chExt cx="5080000" cy="2921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5080000" cy="2921000"/>
              <a:chOff x="0" y="0"/>
              <a:chExt cx="5080000" cy="2921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5080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1F65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5080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317500" y="723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PROBABILITY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317500" y="1549400"/>
              <a:ext cx="444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>
                  <a:solidFill>
                    <a:srgbClr val="E5EAD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0.00 → 1.00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049375" y="3429000"/>
            <a:ext cx="3810000" cy="2190750"/>
            <a:chOff x="0" y="0"/>
            <a:chExt cx="5080000" cy="29210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080000" cy="2921000"/>
              <a:chOff x="0" y="0"/>
              <a:chExt cx="5080000" cy="29210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080000" cy="2921000"/>
              </a:xfrm>
              <a:custGeom>
                <a:avLst/>
                <a:gdLst/>
                <a:ahLst/>
                <a:cxnLst/>
                <a:rect r="r" b="b" t="t" l="l"/>
                <a:pathLst>
                  <a:path h="2921000" w="5080000">
                    <a:moveTo>
                      <a:pt x="0" y="0"/>
                    </a:moveTo>
                    <a:lnTo>
                      <a:pt x="5080000" y="0"/>
                    </a:lnTo>
                    <a:lnTo>
                      <a:pt x="5080000" y="2921000"/>
                    </a:lnTo>
                    <a:lnTo>
                      <a:pt x="0" y="29210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5080000" cy="295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317500" y="723900"/>
              <a:ext cx="44450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 b="true">
                  <a:solidFill>
                    <a:srgbClr val="123C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CLASS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317500" y="1549400"/>
              <a:ext cx="4445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5"/>
                </a:lnSpc>
              </a:pPr>
              <a:r>
                <a:rPr lang="en-US" sz="1725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0 Low  /  1 High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3143250" y="7477125"/>
            <a:ext cx="12001500" cy="480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0"/>
              </a:lnSpc>
            </a:pPr>
            <a:r>
              <a:rPr lang="en-US" sz="2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Classification answers which level — not the exact loss amount.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Creating the Classification Target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5584508"/>
            <a:ext cx="7429500" cy="2000250"/>
            <a:chOff x="0" y="0"/>
            <a:chExt cx="9906000" cy="2667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1F655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944100" y="5584508"/>
            <a:ext cx="7429500" cy="2000250"/>
            <a:chOff x="0" y="0"/>
            <a:chExt cx="9906000" cy="266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06000" cy="2667000"/>
            </a:xfrm>
            <a:custGeom>
              <a:avLst/>
              <a:gdLst/>
              <a:ahLst/>
              <a:cxnLst/>
              <a:rect r="r" b="b" t="t" l="l"/>
              <a:pathLst>
                <a:path h="2667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667000"/>
                  </a:lnTo>
                  <a:lnTo>
                    <a:pt x="0" y="2667000"/>
                  </a:ln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906000" cy="270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095500" y="6184583"/>
            <a:ext cx="47625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0  LOW LOSS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&lt;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430000" y="6184583"/>
            <a:ext cx="4762500" cy="1144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  HIGH LOSS</a:t>
            </a:r>
          </a:p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&gt;=</a:t>
            </a:r>
          </a:p>
        </p:txBody>
      </p:sp>
      <p:sp>
        <p:nvSpPr>
          <p:cNvPr name="AutoShape 16" id="16"/>
          <p:cNvSpPr/>
          <p:nvPr/>
        </p:nvSpPr>
        <p:spPr>
          <a:xfrm>
            <a:off x="9144000" y="5108258"/>
            <a:ext cx="0" cy="0"/>
          </a:xfrm>
          <a:prstGeom prst="line">
            <a:avLst/>
          </a:prstGeom>
          <a:ln cap="flat" w="9525">
            <a:solidFill>
              <a:srgbClr val="123C3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7524750" y="7965757"/>
            <a:ext cx="3238500" cy="609600"/>
            <a:chOff x="0" y="0"/>
            <a:chExt cx="4318000" cy="8128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4318000" cy="812800"/>
              <a:chOff x="0" y="0"/>
              <a:chExt cx="43180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43180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4318000">
                    <a:moveTo>
                      <a:pt x="0" y="0"/>
                    </a:moveTo>
                    <a:lnTo>
                      <a:pt x="4318000" y="0"/>
                    </a:lnTo>
                    <a:lnTo>
                      <a:pt x="4318000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4318000" cy="8509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279400" y="189230"/>
              <a:ext cx="3759200" cy="3962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TRAINING MEDIAN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914400" y="2333625"/>
            <a:ext cx="14287500" cy="984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17342D"/>
                </a:solidFill>
                <a:latin typeface="DM Sans Bold"/>
                <a:ea typeface="DM Sans Bold"/>
                <a:cs typeface="DM Sans Bold"/>
                <a:sym typeface="DM Sans Bold"/>
              </a:rPr>
              <a:t>No binary target existed in the original dataset — so loss level was engineered from the training median.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53000" y="9290685"/>
            <a:ext cx="8382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123C32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Median calculated on training data only → no leakage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307602" y="3412127"/>
            <a:ext cx="7429500" cy="1696130"/>
            <a:chOff x="0" y="0"/>
            <a:chExt cx="9906000" cy="22615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06000" cy="2261507"/>
            </a:xfrm>
            <a:custGeom>
              <a:avLst/>
              <a:gdLst/>
              <a:ahLst/>
              <a:cxnLst/>
              <a:rect r="r" b="b" t="t" l="l"/>
              <a:pathLst>
                <a:path h="2261507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2261507"/>
                  </a:lnTo>
                  <a:lnTo>
                    <a:pt x="0" y="2261507"/>
                  </a:ln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9906000" cy="22996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0" y="3794760"/>
            <a:ext cx="4762500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y_train.median()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Comparison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2476500"/>
            <a:ext cx="7848600" cy="5619750"/>
            <a:chOff x="0" y="0"/>
            <a:chExt cx="10464800" cy="7493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464800" cy="7493000"/>
              <a:chOff x="0" y="0"/>
              <a:chExt cx="10464800" cy="7493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648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4648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4648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8500" y="5873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LINEAR REGRESSION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98500" y="2063750"/>
              <a:ext cx="8255000" cy="10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How much?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98500" y="4025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Predict exact Economic Loss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98500" y="5803900"/>
              <a:ext cx="82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Continuous numerical value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0" y="2476500"/>
            <a:ext cx="7848600" cy="5619750"/>
            <a:chOff x="0" y="0"/>
            <a:chExt cx="10464800" cy="749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464800" cy="7493000"/>
              <a:chOff x="0" y="0"/>
              <a:chExt cx="10464800" cy="749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4648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4648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4648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98500" y="5873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LOGISTIC REGRESSION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8500" y="2063750"/>
              <a:ext cx="8255000" cy="10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  <a:r>
                <a:rPr lang="en-US" sz="48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Which level?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98500" y="4025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  <a:r>
                <a:rPr lang="en-US" sz="2100">
                  <a:solidFill>
                    <a:srgbClr val="FFFFFF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Classify Economic Loss level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98500" y="5803900"/>
              <a:ext cx="82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 b="true">
                  <a:solidFill>
                    <a:srgbClr val="FFFFFF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 = Low  /  1 = High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11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Model Comparison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2476500"/>
            <a:ext cx="7848600" cy="5619750"/>
            <a:chOff x="0" y="0"/>
            <a:chExt cx="10464800" cy="74930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0464800" cy="7493000"/>
              <a:chOff x="0" y="0"/>
              <a:chExt cx="10464800" cy="74930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04648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4648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04648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698500" y="5873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LINEAR REGRESSION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698500" y="2063750"/>
              <a:ext cx="8255000" cy="10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698500" y="4025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698500" y="5803900"/>
              <a:ext cx="82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25000" y="2476500"/>
            <a:ext cx="7848600" cy="5619750"/>
            <a:chOff x="0" y="0"/>
            <a:chExt cx="10464800" cy="74930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0464800" cy="7493000"/>
              <a:chOff x="0" y="0"/>
              <a:chExt cx="10464800" cy="7493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10464800" cy="7493000"/>
              </a:xfrm>
              <a:custGeom>
                <a:avLst/>
                <a:gdLst/>
                <a:ahLst/>
                <a:cxnLst/>
                <a:rect r="r" b="b" t="t" l="l"/>
                <a:pathLst>
                  <a:path h="7493000" w="10464800">
                    <a:moveTo>
                      <a:pt x="0" y="0"/>
                    </a:moveTo>
                    <a:lnTo>
                      <a:pt x="10464800" y="0"/>
                    </a:lnTo>
                    <a:lnTo>
                      <a:pt x="10464800" y="7493000"/>
                    </a:lnTo>
                    <a:lnTo>
                      <a:pt x="0" y="7493000"/>
                    </a:lnTo>
                    <a:close/>
                  </a:path>
                </a:pathLst>
              </a:custGeom>
              <a:solidFill>
                <a:srgbClr val="ED8B5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0" y="-38100"/>
                <a:ext cx="10464800" cy="7531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0" id="20"/>
            <p:cNvSpPr txBox="true"/>
            <p:nvPr/>
          </p:nvSpPr>
          <p:spPr>
            <a:xfrm rot="0">
              <a:off x="698500" y="587375"/>
              <a:ext cx="82550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LOGISTIC REGRESSION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698500" y="2063750"/>
              <a:ext cx="8255000" cy="10629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719"/>
                </a:lnSpc>
              </a:pP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698500" y="4025900"/>
              <a:ext cx="8255000" cy="4546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5"/>
                </a:lnSpc>
              </a:pP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698500" y="5803900"/>
              <a:ext cx="8255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003123" y="4148380"/>
            <a:ext cx="7025090" cy="2466142"/>
          </a:xfrm>
          <a:custGeom>
            <a:avLst/>
            <a:gdLst/>
            <a:ahLst/>
            <a:cxnLst/>
            <a:rect r="r" b="b" t="t" l="l"/>
            <a:pathLst>
              <a:path h="2466142" w="7025090">
                <a:moveTo>
                  <a:pt x="0" y="0"/>
                </a:moveTo>
                <a:lnTo>
                  <a:pt x="7025090" y="0"/>
                </a:lnTo>
                <a:lnTo>
                  <a:pt x="7025090" y="2466141"/>
                </a:lnTo>
                <a:lnTo>
                  <a:pt x="0" y="24661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89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7954" y="4148380"/>
            <a:ext cx="6605407" cy="2466142"/>
          </a:xfrm>
          <a:custGeom>
            <a:avLst/>
            <a:gdLst/>
            <a:ahLst/>
            <a:cxnLst/>
            <a:rect r="r" b="b" t="t" l="l"/>
            <a:pathLst>
              <a:path h="2466142" w="6605407">
                <a:moveTo>
                  <a:pt x="0" y="0"/>
                </a:moveTo>
                <a:lnTo>
                  <a:pt x="6605407" y="0"/>
                </a:lnTo>
                <a:lnTo>
                  <a:pt x="6605407" y="2466141"/>
                </a:lnTo>
                <a:lnTo>
                  <a:pt x="0" y="24661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39" t="-13795" r="-7033" b="-21962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892" t="0" r="-5889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0"/>
            <a:ext cx="8286750" cy="10287000"/>
            <a:chOff x="0" y="0"/>
            <a:chExt cx="11049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C32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04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603395" y="861217"/>
            <a:ext cx="7620000" cy="111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2"/>
              </a:lnSpc>
            </a:pPr>
            <a:r>
              <a:rPr lang="en-US" sz="8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Links</a:t>
            </a:r>
          </a:p>
        </p:txBody>
      </p:sp>
      <p:sp>
        <p:nvSpPr>
          <p:cNvPr name="AutoShape 7" id="7"/>
          <p:cNvSpPr/>
          <p:nvPr/>
        </p:nvSpPr>
        <p:spPr>
          <a:xfrm>
            <a:off x="287082" y="2402463"/>
            <a:ext cx="9370852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7082" y="4385212"/>
            <a:ext cx="7125906" cy="875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05"/>
              </a:lnSpc>
            </a:pPr>
            <a:r>
              <a:rPr lang="en-US" b="true" sz="6962" u="sng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  <a:hlinkClick r:id="rId3" tooltip="https://global-food-wastage-web.streamlit.app"/>
              </a:rPr>
              <a:t>Link</a:t>
            </a:r>
            <a:r>
              <a:rPr lang="en-US" sz="6962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  <a:hlinkClick r:id="rId4" tooltip="https://global-food-wastage-web.streamlit.app"/>
              </a:rPr>
              <a:t> Deployment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7082" y="6673768"/>
            <a:ext cx="7501361" cy="1542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1"/>
              </a:lnSpc>
            </a:pPr>
            <a:r>
              <a:rPr lang="en-US" b="true" sz="6392" u="sng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  <a:hlinkClick r:id="rId5" tooltip="https://hub.docker.com/layers/ayakhaled5/food-waste-app/latest/images/sha256%3A43573111205e40a236f215be909f35578f951a4c9a78ae8fb214517d24ee2b9c?uuid=2609A4C3-D5B4-46D9-8D45-EEACB81E7277"/>
              </a:rPr>
              <a:t>Link Image  Project in Docker Hub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52450"/>
            <a:ext cx="16459200" cy="1285875"/>
            <a:chOff x="0" y="0"/>
            <a:chExt cx="21945600" cy="1714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1F6552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12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65150"/>
              <a:ext cx="19050000" cy="818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698"/>
                </a:lnSpc>
              </a:pPr>
              <a:r>
                <a:rPr lang="en-US" sz="4350" b="true">
                  <a:solidFill>
                    <a:srgbClr val="17342D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Conclusion</a:t>
              </a:r>
            </a:p>
          </p:txBody>
        </p:sp>
        <p:grpSp>
          <p:nvGrpSpPr>
            <p:cNvPr name="Group 5" id="5"/>
            <p:cNvGrpSpPr/>
            <p:nvPr/>
          </p:nvGrpSpPr>
          <p:grpSpPr>
            <a:xfrm rot="0">
              <a:off x="0" y="1676400"/>
              <a:ext cx="21945600" cy="38100"/>
              <a:chOff x="0" y="0"/>
              <a:chExt cx="21945600" cy="381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1945600" cy="38100"/>
              </a:xfrm>
              <a:custGeom>
                <a:avLst/>
                <a:gdLst/>
                <a:ahLst/>
                <a:cxnLst/>
                <a:rect r="r" b="b" t="t" l="l"/>
                <a:pathLst>
                  <a:path h="381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38100"/>
                    </a:lnTo>
                    <a:lnTo>
                      <a:pt x="0" y="38100"/>
                    </a:lnTo>
                    <a:close/>
                  </a:path>
                </a:pathLst>
              </a:custGeom>
              <a:solidFill>
                <a:srgbClr val="123C3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21945600" cy="762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</p:grpSp>
      <p:grpSp>
        <p:nvGrpSpPr>
          <p:cNvPr name="Group 8" id="8"/>
          <p:cNvGrpSpPr/>
          <p:nvPr/>
        </p:nvGrpSpPr>
        <p:grpSpPr>
          <a:xfrm rot="0">
            <a:off x="914400" y="2428875"/>
            <a:ext cx="14763750" cy="838200"/>
            <a:chOff x="0" y="0"/>
            <a:chExt cx="19685000" cy="1117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9685000" cy="1117600"/>
              <a:chOff x="0" y="0"/>
              <a:chExt cx="19685000" cy="1117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9685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96850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9685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31800" y="2413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01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701800" y="190500"/>
              <a:ext cx="3048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UNDERSTAND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5130800" y="165100"/>
              <a:ext cx="1320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EDA exposed quality issues and meaningful patterns.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" y="3619500"/>
            <a:ext cx="14763750" cy="838200"/>
            <a:chOff x="0" y="0"/>
            <a:chExt cx="19685000" cy="11176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9685000" cy="1117600"/>
              <a:chOff x="0" y="0"/>
              <a:chExt cx="19685000" cy="11176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9685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96850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9685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31800" y="2413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701800" y="190500"/>
              <a:ext cx="3048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PRESERVE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5130800" y="165100"/>
              <a:ext cx="1320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Group-based imputation retained data relationships.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14400" y="4810125"/>
            <a:ext cx="14763750" cy="838200"/>
            <a:chOff x="0" y="0"/>
            <a:chExt cx="19685000" cy="11176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9685000" cy="1117600"/>
              <a:chOff x="0" y="0"/>
              <a:chExt cx="19685000" cy="11176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9685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96850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9685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431800" y="2413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03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1701800" y="190500"/>
              <a:ext cx="3048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PROTECT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5130800" y="165100"/>
              <a:ext cx="1320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Training-only preprocessing prevented leakage.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" y="6000750"/>
            <a:ext cx="14763750" cy="838200"/>
            <a:chOff x="0" y="0"/>
            <a:chExt cx="19685000" cy="1117600"/>
          </a:xfrm>
        </p:grpSpPr>
        <p:grpSp>
          <p:nvGrpSpPr>
            <p:cNvPr name="Group 30" id="30"/>
            <p:cNvGrpSpPr/>
            <p:nvPr/>
          </p:nvGrpSpPr>
          <p:grpSpPr>
            <a:xfrm rot="0">
              <a:off x="0" y="0"/>
              <a:ext cx="19685000" cy="1117600"/>
              <a:chOff x="0" y="0"/>
              <a:chExt cx="19685000" cy="1117600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9685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96850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E5EAD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19685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3" id="33"/>
            <p:cNvSpPr txBox="true"/>
            <p:nvPr/>
          </p:nvSpPr>
          <p:spPr>
            <a:xfrm rot="0">
              <a:off x="431800" y="2413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04</a:t>
              </a:r>
            </a:p>
          </p:txBody>
        </p:sp>
        <p:sp>
          <p:nvSpPr>
            <p:cNvPr name="TextBox 34" id="34"/>
            <p:cNvSpPr txBox="true"/>
            <p:nvPr/>
          </p:nvSpPr>
          <p:spPr>
            <a:xfrm rot="0">
              <a:off x="1701800" y="190500"/>
              <a:ext cx="3048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PREDICT</a:t>
              </a:r>
            </a:p>
          </p:txBody>
        </p:sp>
        <p:sp>
          <p:nvSpPr>
            <p:cNvPr name="TextBox 35" id="35"/>
            <p:cNvSpPr txBox="true"/>
            <p:nvPr/>
          </p:nvSpPr>
          <p:spPr>
            <a:xfrm rot="0">
              <a:off x="5130800" y="165100"/>
              <a:ext cx="1320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Regression estimated loss; classification assigned level.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4400" y="7191375"/>
            <a:ext cx="14763750" cy="838200"/>
            <a:chOff x="0" y="0"/>
            <a:chExt cx="19685000" cy="1117600"/>
          </a:xfrm>
        </p:grpSpPr>
        <p:grpSp>
          <p:nvGrpSpPr>
            <p:cNvPr name="Group 37" id="37"/>
            <p:cNvGrpSpPr/>
            <p:nvPr/>
          </p:nvGrpSpPr>
          <p:grpSpPr>
            <a:xfrm rot="0">
              <a:off x="0" y="0"/>
              <a:ext cx="19685000" cy="1117600"/>
              <a:chOff x="0" y="0"/>
              <a:chExt cx="19685000" cy="11176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19685000" cy="1117600"/>
              </a:xfrm>
              <a:custGeom>
                <a:avLst/>
                <a:gdLst/>
                <a:ahLst/>
                <a:cxnLst/>
                <a:rect r="r" b="b" t="t" l="l"/>
                <a:pathLst>
                  <a:path h="1117600" w="19685000">
                    <a:moveTo>
                      <a:pt x="0" y="0"/>
                    </a:moveTo>
                    <a:lnTo>
                      <a:pt x="19685000" y="0"/>
                    </a:lnTo>
                    <a:lnTo>
                      <a:pt x="19685000" y="1117600"/>
                    </a:lnTo>
                    <a:lnTo>
                      <a:pt x="0" y="11176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9" id="39"/>
              <p:cNvSpPr txBox="true"/>
              <p:nvPr/>
            </p:nvSpPr>
            <p:spPr>
              <a:xfrm>
                <a:off x="0" y="-38100"/>
                <a:ext cx="19685000" cy="1155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0" id="40"/>
            <p:cNvSpPr txBox="true"/>
            <p:nvPr/>
          </p:nvSpPr>
          <p:spPr>
            <a:xfrm rot="0">
              <a:off x="431800" y="241300"/>
              <a:ext cx="889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b="true">
                  <a:solidFill>
                    <a:srgbClr val="ED8B5A"/>
                  </a:solidFill>
                  <a:latin typeface="IBM Plex Mono Bold"/>
                  <a:ea typeface="IBM Plex Mono Bold"/>
                  <a:cs typeface="IBM Plex Mono Bold"/>
                  <a:sym typeface="IBM Plex Mono Bold"/>
                </a:rPr>
                <a:t>05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1701800" y="190500"/>
              <a:ext cx="3048000" cy="3632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10"/>
                </a:lnSpc>
              </a:pPr>
              <a:r>
                <a:rPr lang="en-US" sz="1650" spc="198" b="true">
                  <a:solidFill>
                    <a:srgbClr val="1F6552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ACT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5130800" y="165100"/>
              <a:ext cx="13208000" cy="4292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29"/>
                </a:lnSpc>
              </a:pPr>
              <a:r>
                <a:rPr lang="en-US" sz="1950">
                  <a:solidFill>
                    <a:srgbClr val="17342D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Power BI turned analysis into interactive intelligence.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286000" y="8629650"/>
            <a:ext cx="13716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75"/>
              </a:lnSpc>
            </a:pPr>
            <a:r>
              <a:rPr lang="en-US" sz="2625" b="true">
                <a:solidFill>
                  <a:srgbClr val="123C32"/>
                </a:solidFill>
                <a:latin typeface="DM Sans Bold"/>
                <a:ea typeface="DM Sans Bold"/>
                <a:cs typeface="DM Sans Bold"/>
                <a:sym typeface="DM Sans Bold"/>
              </a:rPr>
              <a:t>Data-driven decisions can support more sustainable food systems.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23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001250" y="0"/>
            <a:ext cx="8286750" cy="10287000"/>
          </a:xfrm>
          <a:custGeom>
            <a:avLst/>
            <a:gdLst/>
            <a:ahLst/>
            <a:cxnLst/>
            <a:rect r="r" b="b" t="t" l="l"/>
            <a:pathLst>
              <a:path h="10287000" w="8286750">
                <a:moveTo>
                  <a:pt x="0" y="0"/>
                </a:moveTo>
                <a:lnTo>
                  <a:pt x="8286750" y="0"/>
                </a:lnTo>
                <a:lnTo>
                  <a:pt x="82867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8892" t="0" r="-58892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10001250" y="0"/>
            <a:ext cx="8286750" cy="10287000"/>
            <a:chOff x="0" y="0"/>
            <a:chExt cx="11049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9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23C32">
                <a:alpha val="4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049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962150"/>
            <a:ext cx="666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spc="198" b="true">
                <a:solidFill>
                  <a:srgbClr val="ED8B5A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QUESTIONS &amp; DISCUSSION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3086100"/>
            <a:ext cx="7620000" cy="2143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42"/>
              </a:lnSpc>
            </a:pPr>
            <a:r>
              <a:rPr lang="en-US" sz="8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Thank</a:t>
            </a:r>
          </a:p>
          <a:p>
            <a:pPr algn="l">
              <a:lnSpc>
                <a:spcPts val="8142"/>
              </a:lnSpc>
            </a:pPr>
            <a:r>
              <a:rPr lang="en-US" sz="885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You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5953125"/>
            <a:ext cx="1238250" cy="57150"/>
            <a:chOff x="0" y="0"/>
            <a:chExt cx="16510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51000" cy="76200"/>
            </a:xfrm>
            <a:custGeom>
              <a:avLst/>
              <a:gdLst/>
              <a:ahLst/>
              <a:cxnLst/>
              <a:rect r="r" b="b" t="t" l="l"/>
              <a:pathLst>
                <a:path h="76200" w="1651000">
                  <a:moveTo>
                    <a:pt x="0" y="0"/>
                  </a:moveTo>
                  <a:lnTo>
                    <a:pt x="1651000" y="0"/>
                  </a:lnTo>
                  <a:lnTo>
                    <a:pt x="16510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ED8B5A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51000" cy="114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14400" y="6343650"/>
            <a:ext cx="74295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Food Waste Analysis and Economic Loss Prediction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8534400"/>
            <a:ext cx="2857500" cy="299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15"/>
              </a:lnSpc>
            </a:pPr>
            <a:r>
              <a:rPr lang="en-US" sz="1725">
                <a:solidFill>
                  <a:srgbClr val="ED8B5A"/>
                </a:solidFill>
                <a:latin typeface="IBM Plex Mono"/>
                <a:ea typeface="IBM Plex Mono"/>
                <a:cs typeface="IBM Plex Mono"/>
                <a:sym typeface="IBM Plex Mono"/>
              </a:rPr>
              <a:t>2026-08-29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DAHTfthoR0w</dc:identifier>
  <dcterms:modified xsi:type="dcterms:W3CDTF">2011-08-01T06:04:30Z</dcterms:modified>
  <cp:revision>1</cp:revision>
  <dc:title>From analysis to action.</dc:title>
</cp:coreProperties>
</file>